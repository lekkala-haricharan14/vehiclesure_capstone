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Vehicle Insurance &amp; Claims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digital platform — from instant quotes to direct bank payouts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4276"/>
            <a:ext cx="101330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Traditional Insurance vs VehicleSure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873216"/>
            <a:ext cx="6571417" cy="3532108"/>
          </a:xfrm>
          <a:prstGeom prst="roundRect">
            <a:avLst>
              <a:gd name="adj" fmla="val 4624"/>
            </a:avLst>
          </a:prstGeom>
          <a:solidFill>
            <a:srgbClr val="9C928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100030"/>
            <a:ext cx="35955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Traditional Insurance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57250" y="3752136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 manual paperwork processes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Disconnected teams and departments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real-time application tracking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claim assessment and errors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Delayed payouts via cheque or NEFT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unified platform for all parties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2873216"/>
            <a:ext cx="6571417" cy="3532108"/>
          </a:xfrm>
          <a:prstGeom prst="roundRect">
            <a:avLst>
              <a:gd name="adj" fmla="val 4624"/>
            </a:avLst>
          </a:prstGeom>
          <a:solidFill>
            <a:srgbClr val="6F7F71"/>
          </a:solidFill>
          <a:ln/>
        </p:spPr>
      </p:sp>
      <p:sp>
        <p:nvSpPr>
          <p:cNvPr id="7" name="Text 5"/>
          <p:cNvSpPr/>
          <p:nvPr/>
        </p:nvSpPr>
        <p:spPr>
          <a:xfrm>
            <a:off x="7662982" y="3100030"/>
            <a:ext cx="349662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VehicleSure Platform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62982" y="3752136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Instant online quote engine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Role-based portals for all stakeholders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status tracking and notifications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Automated depreciation-based payout calculation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Direct bank transfers via RazorpayX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Single unified platform for all workflows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32" y="1161574"/>
            <a:ext cx="4833699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76632" y="2095381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2731" y="2311479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2731" y="2712363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Angular 21 · RxJS · Tailwind CSS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97591" y="2095381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13690" y="2311479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13690" y="2712363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Java 17 · Spring Boot 3.3 · Spring Security (JWT)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32" y="3379708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2731" y="3595807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2731" y="3996690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MySQL – relational schema, 11 entities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97591" y="3379708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13690" y="3595807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Premium Payment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13690" y="3996690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 – order creation + HMAC signature verification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6632" y="4664035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2731" y="4880134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Claim Payout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92731" y="5281017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RazorpayX – direct bank transfers to customer accounts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97591" y="4664035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13690" y="4880134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Email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13690" y="5281017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n8n – webhook-triggered transactional emails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6632" y="5948363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2731" y="6164461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PDF Generation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2731" y="6565344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OpenPDF – invoice and policy documents auto-generated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97591" y="5948363"/>
            <a:ext cx="6556177" cy="1119545"/>
          </a:xfrm>
          <a:prstGeom prst="roundRect">
            <a:avLst>
              <a:gd name="adj" fmla="val 725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13690" y="6164461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Excel Reports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13690" y="6565344"/>
            <a:ext cx="612398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Apache POI – premium and payout history exports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36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Roles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6011"/>
            <a:ext cx="6407944" cy="2206585"/>
          </a:xfrm>
          <a:prstGeom prst="roundRect">
            <a:avLst>
              <a:gd name="adj" fmla="val 431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261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100864"/>
            <a:ext cx="59390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Request quotes and buy policies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Pay premiums via Razorpay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Submit and track claims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376011"/>
            <a:ext cx="6408063" cy="2206585"/>
          </a:xfrm>
          <a:prstGeom prst="roundRect">
            <a:avLst>
              <a:gd name="adj" fmla="val 431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62982" y="261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Underwriter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100864"/>
            <a:ext cx="593919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assigned applications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Verify RC and invoice documents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Approve or reject with reason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206585"/>
          </a:xfrm>
          <a:prstGeom prst="roundRect">
            <a:avLst>
              <a:gd name="adj" fmla="val 431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Claims Officer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0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assigned claims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Calculate depreciation payout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Approve or reject claims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206585"/>
          </a:xfrm>
          <a:prstGeom prst="roundRect">
            <a:avLst>
              <a:gd name="adj" fmla="val 431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Admin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 staff and policy plans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Assign applications and claims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Trigger RazorpayX payouts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6821" y="510778"/>
            <a:ext cx="5765363" cy="46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Workflow 1: Insurance Issuance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86821" y="1170027"/>
            <a:ext cx="10256758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Quote → Application → Underwriting → Payment → Policy Activation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821" y="1476256"/>
            <a:ext cx="743188" cy="891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27402" y="1624846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Get Quote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027402" y="1915478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enters vehicle details, gets instant premium options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821" y="2368034"/>
            <a:ext cx="743188" cy="8917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27402" y="2516624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Submit Application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027402" y="2807256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Choose plan, upload RC and invoice documents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821" y="3259812"/>
            <a:ext cx="743188" cy="8917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27402" y="3408402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Assign Underwriter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027402" y="3699034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Admin assigns to available underwriter based on workload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821" y="4151590"/>
            <a:ext cx="743188" cy="8917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27402" y="4300180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Review &amp; Decide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3027402" y="4590812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Underwriter approves (creates policy) or rejects with reason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821" y="5043368"/>
            <a:ext cx="743188" cy="8917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027402" y="5191958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Pay Premium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3027402" y="5482590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 checkout, HMAC signature verified server-side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821" y="5935147"/>
            <a:ext cx="743188" cy="89177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027402" y="6083737"/>
            <a:ext cx="1858089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Activate Policy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3027402" y="6374368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PDF invoice and policy document generated, policy becomes active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6821" y="6826925"/>
            <a:ext cx="743188" cy="89177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027402" y="6975515"/>
            <a:ext cx="1978343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Download Documents</a:t>
            </a:r>
            <a:endParaRPr lang="en-US" sz="1450" dirty="0"/>
          </a:p>
        </p:txBody>
      </p:sp>
      <p:sp>
        <p:nvSpPr>
          <p:cNvPr id="24" name="Text 15"/>
          <p:cNvSpPr/>
          <p:nvPr/>
        </p:nvSpPr>
        <p:spPr>
          <a:xfrm>
            <a:off x="3027402" y="7266146"/>
            <a:ext cx="941617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Invoice and policy document available on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9703" y="749737"/>
            <a:ext cx="6170771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Workflow 2: Claim Settlement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29703" y="1334095"/>
            <a:ext cx="4287083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Phase 1: Submission &amp; Assignment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29703" y="1846302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29703" y="2113359"/>
            <a:ext cx="5821323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4"/>
          <p:cNvSpPr/>
          <p:nvPr/>
        </p:nvSpPr>
        <p:spPr>
          <a:xfrm>
            <a:off x="1429703" y="2244328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File Claim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29703" y="2587704"/>
            <a:ext cx="5821323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submits with claim type, bank details, and up to 3 supporting documents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79256" y="1846302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79256" y="2113359"/>
            <a:ext cx="582144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7379256" y="2244328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Assign Officer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79256" y="2587704"/>
            <a:ext cx="582144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Admin checks officer workload and assigns a Claims Officer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29703" y="3321963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29703" y="3589020"/>
            <a:ext cx="5821323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1429703" y="3719989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Review &amp; Calculate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29703" y="4063365"/>
            <a:ext cx="58213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Officer assesses documents, computes depreciation payout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79256" y="3321963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79256" y="3589020"/>
            <a:ext cx="582144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56" y="3719989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Approve / Reject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79256" y="4063365"/>
            <a:ext cx="582144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 approved payout amount or reject with reason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9703" y="4622721"/>
            <a:ext cx="359140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Phase 2: Payout &amp; Settlement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29703" y="5134928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29703" y="5401985"/>
            <a:ext cx="5821323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3" name="Text 21"/>
          <p:cNvSpPr/>
          <p:nvPr/>
        </p:nvSpPr>
        <p:spPr>
          <a:xfrm>
            <a:off x="1429703" y="5532953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Trigger Payout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9703" y="5876330"/>
            <a:ext cx="58213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Admin processes RazorpayX bank transfer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79256" y="5134928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79256" y="5401985"/>
            <a:ext cx="582144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25"/>
          <p:cNvSpPr/>
          <p:nvPr/>
        </p:nvSpPr>
        <p:spPr>
          <a:xfrm>
            <a:off x="7379256" y="5532953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Record &amp; Notify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379256" y="5876330"/>
            <a:ext cx="582144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ClaimsPayment record saved; status changes to SETTLED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29703" y="6371511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429703" y="6638568"/>
            <a:ext cx="5821323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1" name="Text 29"/>
          <p:cNvSpPr/>
          <p:nvPr/>
        </p:nvSpPr>
        <p:spPr>
          <a:xfrm>
            <a:off x="1429703" y="6769537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Receive Transfer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29703" y="7112913"/>
            <a:ext cx="58213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Amount credited to customer's bank account directly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79256" y="6371511"/>
            <a:ext cx="170497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79256" y="6638568"/>
            <a:ext cx="582144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5" name="Text 33"/>
          <p:cNvSpPr/>
          <p:nvPr/>
        </p:nvSpPr>
        <p:spPr>
          <a:xfrm>
            <a:off x="7379256" y="6769537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Policy Update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379256" y="7112913"/>
            <a:ext cx="582144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Total-loss claims set policy to INACTIVE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55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8555"/>
            <a:ext cx="62447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Smart Quote Engine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IDV and risk scoring in real time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Role-Based Dashboards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Separate portals per stakeholder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Document Upload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RC and invoice upload with verification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 Integration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Secure order and HMAC signature flow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 PDF Generation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Invoice and policy documents on payment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2728555"/>
            <a:ext cx="6244709" cy="32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Multi-Type Policies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Third Party, Comprehensive, Zero Dep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Claims Filing Portal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Self-service with 3-document support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RazorpayX Payouts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Direct bank transfer on approval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In-App Notifications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Real-time alerts at every step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Excel Report Export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Admin exports for audit trail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3" y="1049060"/>
            <a:ext cx="7151965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Rules &amp; Calculations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8183" y="2023348"/>
            <a:ext cx="4294346" cy="5157192"/>
          </a:xfrm>
          <a:prstGeom prst="roundRect">
            <a:avLst>
              <a:gd name="adj" fmla="val 1951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21043" y="2046208"/>
            <a:ext cx="4248626" cy="598408"/>
          </a:xfrm>
          <a:prstGeom prst="roundRect">
            <a:avLst>
              <a:gd name="adj" fmla="val 9417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25400" dir="2700000">
              <a:srgbClr val="ccc4b8">
                <a:alpha val="10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5694" y="2191941"/>
            <a:ext cx="299204" cy="299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0472" y="2819995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IDV Calculation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20472" y="3236833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Formula: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IDV = Ex-Showroom Price × (1 − Age × 10%)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20472" y="3942159"/>
            <a:ext cx="384976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Maximum depreciation capped at 50%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20472" y="4347448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Example: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3-year car ₹8L → ₹8L × 0.70 = ₹5.6L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20472" y="5052774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Example: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6-year car ₹5L → ₹5L × 0.50 = ₹2.5L (cap applies)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167908" y="2023348"/>
            <a:ext cx="4294465" cy="5157192"/>
          </a:xfrm>
          <a:prstGeom prst="roundRect">
            <a:avLst>
              <a:gd name="adj" fmla="val 1951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90768" y="2046208"/>
            <a:ext cx="4248745" cy="598408"/>
          </a:xfrm>
          <a:prstGeom prst="roundRect">
            <a:avLst>
              <a:gd name="adj" fmla="val 9417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25400" dir="2700000">
              <a:srgbClr val="ccc4b8">
                <a:alpha val="1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5538" y="2191941"/>
            <a:ext cx="299204" cy="2992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0198" y="2819995"/>
            <a:ext cx="2564725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Premium Calculation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390198" y="3236833"/>
            <a:ext cx="384988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Formula: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Base Premium × Risk Multiplier × IDV Multiplier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390198" y="3942159"/>
            <a:ext cx="384988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 risk (score ≤1)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1.0× | No increase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390198" y="4647486"/>
            <a:ext cx="384988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MEDIUM risk (score 2)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1.2× | +20%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90198" y="5052774"/>
            <a:ext cx="384988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risk (score ≥3)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1.5× | +50%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5390198" y="5458063"/>
            <a:ext cx="384988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Multi-year: 2 years = ×1.9 (5% off) | 3 years = ×2.8 (7% off)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9637752" y="2023348"/>
            <a:ext cx="4294346" cy="5157192"/>
          </a:xfrm>
          <a:prstGeom prst="roundRect">
            <a:avLst>
              <a:gd name="adj" fmla="val 1951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5400" dir="2700000">
              <a:srgbClr val="e6ded2">
                <a:alpha val="10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60612" y="2046208"/>
            <a:ext cx="4248626" cy="598408"/>
          </a:xfrm>
          <a:prstGeom prst="roundRect">
            <a:avLst>
              <a:gd name="adj" fmla="val 9417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25400" dir="2700000">
              <a:srgbClr val="ccc4b8">
                <a:alpha val="10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5264" y="2191941"/>
            <a:ext cx="299204" cy="2992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60042" y="2819995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Claim Payout Logic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9860042" y="3236833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THEFT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Payout = Full IDV; Policy closed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9860042" y="3942159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DAMAGE &gt; 75% IDV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Total Loss; Payout = Full IDV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9860042" y="4647486"/>
            <a:ext cx="3849767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DAMAGE ≤ 75% IDV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Comprehensive: Depreciated Bill | Zero-Dep: Full Bill (no depreciation)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9860042" y="5652849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THIRD PARTY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Payout = min(Bill, Max Coverage Amount)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9860042" y="6358176"/>
            <a:ext cx="384976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Final Payout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= Calculated Amount − Deductible (minimum ₹0)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5684" y="1121331"/>
            <a:ext cx="4579263" cy="51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Integrations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65684" y="1869281"/>
            <a:ext cx="3687485" cy="3236833"/>
          </a:xfrm>
          <a:prstGeom prst="roundRect">
            <a:avLst>
              <a:gd name="adj" fmla="val 212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1590" dir="270000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37015" y="2040612"/>
            <a:ext cx="491252" cy="491252"/>
          </a:xfrm>
          <a:prstGeom prst="roundRect">
            <a:avLst>
              <a:gd name="adj" fmla="val 18611803"/>
            </a:avLst>
          </a:prstGeom>
          <a:solidFill>
            <a:srgbClr val="E6DED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2151" y="2175748"/>
            <a:ext cx="220980" cy="220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37015" y="2649974"/>
            <a:ext cx="3218855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Razorpay — Premium Collection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37015" y="2976563"/>
            <a:ext cx="3344823" cy="170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pays policy premium online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Backend creates Razorpay order in paise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HMAC-SHA256 signature verified server-side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Policy PDF and invoice auto-generated on success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71279" y="1869281"/>
            <a:ext cx="3687604" cy="3236833"/>
          </a:xfrm>
          <a:prstGeom prst="roundRect">
            <a:avLst>
              <a:gd name="adj" fmla="val 212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1590" dir="2700000">
              <a:srgbClr val="e6ded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42610" y="2040612"/>
            <a:ext cx="491252" cy="491252"/>
          </a:xfrm>
          <a:prstGeom prst="roundRect">
            <a:avLst>
              <a:gd name="adj" fmla="val 18611803"/>
            </a:avLst>
          </a:prstGeom>
          <a:solidFill>
            <a:srgbClr val="E6DED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746" y="2175748"/>
            <a:ext cx="220980" cy="2209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42610" y="2649974"/>
            <a:ext cx="3344942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RazorpayX — Claim Bank Payouts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42610" y="3232309"/>
            <a:ext cx="3344942" cy="170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Approved claim triggers bank payout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Contact and Fund Account created via API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Bank transfer processed directly to customer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Mock mode available for test environments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276993" y="1869281"/>
            <a:ext cx="3687604" cy="3236833"/>
          </a:xfrm>
          <a:prstGeom prst="roundRect">
            <a:avLst>
              <a:gd name="adj" fmla="val 2125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1590" dir="270000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48324" y="2040612"/>
            <a:ext cx="491252" cy="491252"/>
          </a:xfrm>
          <a:prstGeom prst="roundRect">
            <a:avLst>
              <a:gd name="adj" fmla="val 18611803"/>
            </a:avLst>
          </a:prstGeom>
          <a:solidFill>
            <a:srgbClr val="E6DED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3460" y="2175748"/>
            <a:ext cx="220980" cy="2209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48324" y="2649974"/>
            <a:ext cx="3344942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n8n Webhook — Email Automation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448324" y="3232309"/>
            <a:ext cx="3344942" cy="170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Staff creation triggers welcome email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Credentials sent via n8n webhook payload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Email failure does not block staff creation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Fully decoupled from backend transaction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665684" y="5283398"/>
            <a:ext cx="245625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Security Measures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1665684" y="5854601"/>
            <a:ext cx="81796" cy="81796"/>
          </a:xfrm>
          <a:prstGeom prst="roundRect">
            <a:avLst>
              <a:gd name="adj" fmla="val 558952"/>
            </a:avLst>
          </a:prstGeom>
          <a:solidFill>
            <a:srgbClr val="E6DED2"/>
          </a:solidFill>
          <a:ln/>
        </p:spPr>
      </p:sp>
      <p:sp>
        <p:nvSpPr>
          <p:cNvPr id="20" name="Text 15"/>
          <p:cNvSpPr/>
          <p:nvPr/>
        </p:nvSpPr>
        <p:spPr>
          <a:xfrm>
            <a:off x="1865590" y="5767626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865590" y="6094214"/>
            <a:ext cx="5375672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Bearer token required on every API request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389019" y="5854601"/>
            <a:ext cx="81796" cy="81796"/>
          </a:xfrm>
          <a:prstGeom prst="roundRect">
            <a:avLst>
              <a:gd name="adj" fmla="val 558952"/>
            </a:avLst>
          </a:prstGeom>
          <a:solidFill>
            <a:srgbClr val="E6DED2"/>
          </a:solidFill>
          <a:ln/>
        </p:spPr>
      </p:sp>
      <p:sp>
        <p:nvSpPr>
          <p:cNvPr id="23" name="Text 18"/>
          <p:cNvSpPr/>
          <p:nvPr/>
        </p:nvSpPr>
        <p:spPr>
          <a:xfrm>
            <a:off x="7588925" y="5767626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Spring RBAC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588925" y="6094214"/>
            <a:ext cx="5375672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@PreAuthorize annotation on every controller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1665684" y="6643033"/>
            <a:ext cx="81796" cy="81796"/>
          </a:xfrm>
          <a:prstGeom prst="roundRect">
            <a:avLst>
              <a:gd name="adj" fmla="val 558952"/>
            </a:avLst>
          </a:prstGeom>
          <a:solidFill>
            <a:srgbClr val="E6DED2"/>
          </a:solidFill>
          <a:ln/>
        </p:spPr>
      </p:sp>
      <p:sp>
        <p:nvSpPr>
          <p:cNvPr id="26" name="Text 21"/>
          <p:cNvSpPr/>
          <p:nvPr/>
        </p:nvSpPr>
        <p:spPr>
          <a:xfrm>
            <a:off x="1865590" y="6556057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BCrypt Hashing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865590" y="6882646"/>
            <a:ext cx="5375672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Passwords never stored in plain text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389019" y="6643033"/>
            <a:ext cx="81796" cy="81796"/>
          </a:xfrm>
          <a:prstGeom prst="roundRect">
            <a:avLst>
              <a:gd name="adj" fmla="val 558952"/>
            </a:avLst>
          </a:prstGeom>
          <a:solidFill>
            <a:srgbClr val="E6DED2"/>
          </a:solidFill>
          <a:ln/>
        </p:spPr>
      </p:sp>
      <p:sp>
        <p:nvSpPr>
          <p:cNvPr id="29" name="Text 24"/>
          <p:cNvSpPr/>
          <p:nvPr/>
        </p:nvSpPr>
        <p:spPr>
          <a:xfrm>
            <a:off x="7588925" y="6556057"/>
            <a:ext cx="204680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588925" y="6882646"/>
            <a:ext cx="5375672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Regex validation for VIN format and registration number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2026-03-17T18:57:37Z</dcterms:created>
  <dcterms:modified xsi:type="dcterms:W3CDTF">2026-03-17T18:57:37Z</dcterms:modified>
</cp:coreProperties>
</file>